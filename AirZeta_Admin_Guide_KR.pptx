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9144000" cy="54864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840480" y="914400"/>
            <a:ext cx="1463040" cy="1097280"/>
          </a:xfrm>
          <a:prstGeom prst="round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0" y="1051560"/>
            <a:ext cx="1463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AIRZETA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Malgun Gothic"/>
              </a:defRPr>
            </a:pPr>
            <a:r>
              <a:t>AirZeta Security Portal</a:t>
            </a:r>
            <a:br/>
            <a:r>
              <a:t>관리자 가이드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5661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8B99A8"/>
                </a:solidFill>
                <a:latin typeface="Malgun Gothic"/>
              </a:defRPr>
            </a:pPr>
            <a:r>
              <a:t>HQ Admin 전용 운영 매뉴얼 (상세)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2062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8B99A8"/>
                </a:solidFill>
                <a:latin typeface="Malgun Gothic"/>
              </a:defRPr>
            </a:pPr>
            <a:r>
              <a:t>AirZeta Station Security System | v1.9 | 2026-03-04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32F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algun Gothic"/>
              </a:defRPr>
            </a:pPr>
            <a:r>
              <a:t>목차 (Table of Contents)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777240"/>
            <a:ext cx="1371600" cy="36576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80467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400" b="1">
                <a:solidFill>
                  <a:srgbClr val="3B82F6"/>
                </a:solidFill>
                <a:latin typeface="Malgun Gothic"/>
              </a:defRPr>
            </a:pPr>
            <a:r>
              <a:t>1. 시스템 개요 및 로그인</a:t>
            </a:r>
          </a:p>
          <a:p>
            <a:pPr>
              <a:spcBef>
                <a:spcPts val="1200"/>
              </a:spcBef>
              <a:defRPr sz="1400" b="1">
                <a:solidFill>
                  <a:srgbClr val="3B82F6"/>
                </a:solidFill>
                <a:latin typeface="Malgun Gothic"/>
              </a:defRPr>
            </a:pPr>
            <a:r>
              <a:t>2. 대시보드 (홈 화면)</a:t>
            </a:r>
          </a:p>
          <a:p>
            <a:pPr>
              <a:spcBef>
                <a:spcPts val="1200"/>
              </a:spcBef>
              <a:defRPr sz="1400" b="1">
                <a:solidFill>
                  <a:srgbClr val="3B82F6"/>
                </a:solidFill>
                <a:latin typeface="Malgun Gothic"/>
              </a:defRPr>
            </a:pPr>
            <a:r>
              <a:t>3. Security Directive (보안 지시사항)</a:t>
            </a:r>
          </a:p>
          <a:p>
            <a:pPr>
              <a:spcBef>
                <a:spcPts val="1200"/>
              </a:spcBef>
              <a:defRPr sz="1400" b="1">
                <a:solidFill>
                  <a:srgbClr val="3B82F6"/>
                </a:solidFill>
                <a:latin typeface="Malgun Gothic"/>
              </a:defRPr>
            </a:pPr>
            <a:r>
              <a:t>4. Security Communication (보안 커뮤니케이션)</a:t>
            </a:r>
          </a:p>
          <a:p>
            <a:pPr>
              <a:spcBef>
                <a:spcPts val="1200"/>
              </a:spcBef>
              <a:defRPr sz="1400" b="1">
                <a:solidFill>
                  <a:srgbClr val="3B82F6"/>
                </a:solidFill>
                <a:latin typeface="Malgun Gothic"/>
              </a:defRPr>
            </a:pPr>
            <a:r>
              <a:t>5. Document Library (문서 관리)</a:t>
            </a:r>
          </a:p>
          <a:p>
            <a:pPr>
              <a:spcBef>
                <a:spcPts val="1200"/>
              </a:spcBef>
              <a:defRPr sz="1400" b="1">
                <a:solidFill>
                  <a:srgbClr val="3B82F6"/>
                </a:solidFill>
                <a:latin typeface="Malgun Gothic"/>
              </a:defRPr>
            </a:pPr>
            <a:r>
              <a:t>6. Security Level (보안 레벨 관리)</a:t>
            </a:r>
          </a:p>
          <a:p>
            <a:pPr>
              <a:spcBef>
                <a:spcPts val="1200"/>
              </a:spcBef>
              <a:defRPr sz="1400" b="1">
                <a:solidFill>
                  <a:srgbClr val="3B82F6"/>
                </a:solidFill>
                <a:latin typeface="Malgun Gothic"/>
              </a:defRPr>
            </a:pPr>
            <a:r>
              <a:t>7. Security Fee (보안 수수료)</a:t>
            </a:r>
          </a:p>
          <a:p>
            <a:pPr>
              <a:spcBef>
                <a:spcPts val="1200"/>
              </a:spcBef>
              <a:defRPr sz="1400" b="1">
                <a:solidFill>
                  <a:srgbClr val="3B82F6"/>
                </a:solidFill>
                <a:latin typeface="Malgun Gothic"/>
              </a:defRPr>
            </a:pPr>
            <a:r>
              <a:t>8. Security Policy (보안 정책)</a:t>
            </a:r>
          </a:p>
          <a:p>
            <a:pPr>
              <a:spcBef>
                <a:spcPts val="1200"/>
              </a:spcBef>
              <a:defRPr sz="1400" b="1">
                <a:solidFill>
                  <a:srgbClr val="3B82F6"/>
                </a:solidFill>
                <a:latin typeface="Malgun Gothic"/>
              </a:defRPr>
            </a:pPr>
            <a:r>
              <a:t>9. Important Links (주요 링크)</a:t>
            </a:r>
          </a:p>
          <a:p>
            <a:pPr>
              <a:spcBef>
                <a:spcPts val="1200"/>
              </a:spcBef>
              <a:defRPr sz="1400" b="1">
                <a:solidFill>
                  <a:srgbClr val="3B82F6"/>
                </a:solidFill>
                <a:latin typeface="Malgun Gothic"/>
              </a:defRPr>
            </a:pPr>
            <a:r>
              <a:t>10. Settings &amp; Users (설정 및 사용자 관리)</a:t>
            </a:r>
          </a:p>
          <a:p>
            <a:pPr>
              <a:spcBef>
                <a:spcPts val="1200"/>
              </a:spcBef>
              <a:defRPr sz="1400" b="1">
                <a:solidFill>
                  <a:srgbClr val="3B82F6"/>
                </a:solidFill>
                <a:latin typeface="Malgun Gothic"/>
              </a:defRPr>
            </a:pPr>
            <a:r>
              <a:t>11. AI 번역 기능 활용</a:t>
            </a:r>
          </a:p>
          <a:p>
            <a:pPr>
              <a:spcBef>
                <a:spcPts val="1200"/>
              </a:spcBef>
              <a:defRPr sz="1400" b="1">
                <a:solidFill>
                  <a:srgbClr val="3B82F6"/>
                </a:solidFill>
                <a:latin typeface="Malgun Gothic"/>
              </a:defRPr>
            </a:pPr>
            <a:r>
              <a:t>12. 자주 묻는 질문 (FAQ)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F4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2286000"/>
            <a:ext cx="1828800" cy="4572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46888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algun Gothic"/>
              </a:defRPr>
            </a:pPr>
            <a:r>
              <a:t>1. 시스템 개요 및 로그인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B99A8"/>
                </a:solidFill>
                <a:latin typeface="Malgun Gothic"/>
              </a:defRPr>
            </a:pPr>
            <a:r>
              <a:t>System Overview &amp; Login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32F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algun Gothic"/>
              </a:defRPr>
            </a:pPr>
            <a:r>
              <a:t>시스템 개요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777240"/>
            <a:ext cx="1371600" cy="36576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80467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400" b="1">
                <a:solidFill>
                  <a:srgbClr val="3B82F6"/>
                </a:solidFill>
                <a:latin typeface="Malgun Gothic"/>
              </a:defRPr>
            </a:pPr>
            <a:r>
              <a:t>AirZeta Station Security System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항공 화물 보안 관리를 위한 통합 웹 포털 시스템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React 19 기반 SPA (Single Page Application)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Firebase 인증 및 데이터베이스 연동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Google Gemini AI 기반 실시간 번역 기능</a:t>
            </a:r>
          </a:p>
          <a:p>
            <a:pPr>
              <a:spcBef>
                <a:spcPts val="4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</a:p>
          <a:p>
            <a:pPr>
              <a:spcBef>
                <a:spcPts val="1200"/>
              </a:spcBef>
              <a:defRPr sz="1400" b="1">
                <a:solidFill>
                  <a:srgbClr val="3B82F6"/>
                </a:solidFill>
                <a:latin typeface="Malgun Gothic"/>
              </a:defRPr>
            </a:pPr>
            <a:r>
              <a:t>접속 URL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운영 서버: https://airzeta-security-fee-app.vercel.app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GitHub Pages: https://mark4mission.github.io/airzeta-security-fee-app</a:t>
            </a:r>
          </a:p>
          <a:p>
            <a:pPr>
              <a:spcBef>
                <a:spcPts val="4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</a:p>
          <a:p>
            <a:pPr>
              <a:spcBef>
                <a:spcPts val="1200"/>
              </a:spcBef>
              <a:defRPr sz="1400" b="1">
                <a:solidFill>
                  <a:srgbClr val="3B82F6"/>
                </a:solidFill>
                <a:latin typeface="Malgun Gothic"/>
              </a:defRPr>
            </a:pPr>
            <a:r>
              <a:t>사용자 역할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HQ Admin (hq_admin): 전체 시스템 관리 권한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Branch User (branch_user): 지점별 제한된 접근 권한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32F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algun Gothic"/>
              </a:defRPr>
            </a:pPr>
            <a:r>
              <a:t>로그인 방법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777240"/>
            <a:ext cx="1371600" cy="36576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80467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400" b="1">
                <a:solidFill>
                  <a:srgbClr val="3B82F6"/>
                </a:solidFill>
                <a:latin typeface="Malgun Gothic"/>
              </a:defRPr>
            </a:pPr>
            <a:r>
              <a:t>로그인 절차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- 1. 웹 브라우저에서 포털 URL 접속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- 2. 이메일 주소 입력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- 3. 비밀번호 입력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- 4. 'Login' 버튼 클릭</a:t>
            </a:r>
          </a:p>
          <a:p>
            <a:pPr>
              <a:spcBef>
                <a:spcPts val="4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</a:p>
          <a:p>
            <a:pPr>
              <a:spcBef>
                <a:spcPts val="1200"/>
              </a:spcBef>
              <a:defRPr sz="1400" b="1">
                <a:solidFill>
                  <a:srgbClr val="3B82F6"/>
                </a:solidFill>
                <a:latin typeface="Malgun Gothic"/>
              </a:defRPr>
            </a:pPr>
            <a:r>
              <a:t>관리자 계정 특징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상단 헤더에 'ADMIN' 뱃지 표시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사이드바에 'Settings &amp; Users' 메뉴 노출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모든 게시물 수정/삭제 권한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Security Level 전 지점 편집 가능</a:t>
            </a:r>
          </a:p>
          <a:p>
            <a:pPr>
              <a:spcBef>
                <a:spcPts val="4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</a:p>
          <a:p>
            <a:pPr>
              <a:spcBef>
                <a:spcPts val="1200"/>
              </a:spcBef>
              <a:defRPr sz="1400" b="1">
                <a:solidFill>
                  <a:srgbClr val="3B82F6"/>
                </a:solidFill>
                <a:latin typeface="Malgun Gothic"/>
              </a:defRPr>
            </a:pPr>
            <a:r>
              <a:t>주의사항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비밀번호는 주기적으로 변경 권장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공용 PC에서 사용 후 반드시 로그아웃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F4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2286000"/>
            <a:ext cx="1828800" cy="4572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46888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algun Gothic"/>
              </a:defRPr>
            </a:pPr>
            <a:r>
              <a:t>2. 대시보드 (홈 화면)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B99A8"/>
                </a:solidFill>
                <a:latin typeface="Malgun Gothic"/>
              </a:defRPr>
            </a:pPr>
            <a:r>
              <a:t>Home Dashboard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32F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algun Gothic"/>
              </a:defRPr>
            </a:pPr>
            <a:r>
              <a:t>홈 화면 구성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777240"/>
            <a:ext cx="1371600" cy="36576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80467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400" b="1">
                <a:solidFill>
                  <a:srgbClr val="3B82F6"/>
                </a:solidFill>
                <a:latin typeface="Malgun Gothic"/>
              </a:defRPr>
            </a:pPr>
            <a:r>
              <a:t>모듈 카드 영역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각 기능별 바로가기 카드가 그리드 형태로 배치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Security Policy, Bulletins, Document Library 등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클릭 시 해당 모듈로 바로 이동</a:t>
            </a:r>
          </a:p>
          <a:p>
            <a:pPr>
              <a:spcBef>
                <a:spcPts val="4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</a:p>
          <a:p>
            <a:pPr>
              <a:spcBef>
                <a:spcPts val="1200"/>
              </a:spcBef>
              <a:defRPr sz="1400" b="1">
                <a:solidFill>
                  <a:srgbClr val="3B82F6"/>
                </a:solidFill>
                <a:latin typeface="Malgun Gothic"/>
              </a:defRPr>
            </a:pPr>
            <a:r>
              <a:t>최근 게시물 (Recent Bulletins)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Security Directive 최신 게시물 미리보기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제목, 작성일, 조회수 표시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클릭 시 해당 게시물 상세 페이지로 이동</a:t>
            </a:r>
          </a:p>
          <a:p>
            <a:pPr>
              <a:spcBef>
                <a:spcPts val="4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</a:p>
          <a:p>
            <a:pPr>
              <a:spcBef>
                <a:spcPts val="1200"/>
              </a:spcBef>
              <a:defRPr sz="1400" b="1">
                <a:solidFill>
                  <a:srgbClr val="3B82F6"/>
                </a:solidFill>
                <a:latin typeface="Malgun Gothic"/>
              </a:defRPr>
            </a:pPr>
            <a:r>
              <a:t>Global Security News Feed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전 세계 항공 보안 관련 뉴스 RSS 피드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Google News에서 자동 수집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최신 보안 동향 실시간 확인 가능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F4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2286000"/>
            <a:ext cx="1828800" cy="4572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46888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algun Gothic"/>
              </a:defRPr>
            </a:pPr>
            <a:r>
              <a:t>3. Security Directive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B99A8"/>
                </a:solidFill>
                <a:latin typeface="Malgun Gothic"/>
              </a:defRPr>
            </a:pPr>
            <a:r>
              <a:t>보안 지시사항 관리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32F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algun Gothic"/>
              </a:defRPr>
            </a:pPr>
            <a:r>
              <a:t>Security Directive 개요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777240"/>
            <a:ext cx="1371600" cy="36576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80467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400" b="1">
                <a:solidFill>
                  <a:srgbClr val="3B82F6"/>
                </a:solidFill>
                <a:latin typeface="Malgun Gothic"/>
              </a:defRPr>
            </a:pPr>
            <a:r>
              <a:t>게시판 특징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HQ Admin 전용 게시판 (작성 권한: 관리자만)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전 지점에 보안 지시사항 전달 목적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Firestore 컬렉션: bulletinPosts</a:t>
            </a:r>
          </a:p>
          <a:p>
            <a:pPr>
              <a:spcBef>
                <a:spcPts val="4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</a:p>
          <a:p>
            <a:pPr>
              <a:spcBef>
                <a:spcPts val="1200"/>
              </a:spcBef>
              <a:defRPr sz="1400" b="1">
                <a:solidFill>
                  <a:srgbClr val="3B82F6"/>
                </a:solidFill>
                <a:latin typeface="Malgun Gothic"/>
              </a:defRPr>
            </a:pPr>
            <a:r>
              <a:t>주요 기능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Rich Text 에디터 (Quill 2) + Markdown 모드 지원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AI 번역 (한국어/영어/일본어 등 10개 언어)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파일 첨부 (최대 100MB, 드래그앤드롭 지원)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확인(Acknowledge) 추적 시스템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댓글 및 댓글 번역 기능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PDF 인쇄 기능</a:t>
            </a:r>
          </a:p>
          <a:p>
            <a:pPr>
              <a:spcBef>
                <a:spcPts val="4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</a:p>
          <a:p>
            <a:pPr>
              <a:spcBef>
                <a:spcPts val="1200"/>
              </a:spcBef>
              <a:defRPr sz="1400" b="1">
                <a:solidFill>
                  <a:srgbClr val="3B82F6"/>
                </a:solidFill>
                <a:latin typeface="Malgun Gothic"/>
              </a:defRPr>
            </a:pPr>
            <a:r>
              <a:t>관리자 Acknowledge 추적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전 지점의 확인 현황을 실시간 모니터링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확인/미확인 지점 목록 자동 분류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32F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algun Gothic"/>
              </a:defRPr>
            </a:pPr>
            <a:r>
              <a:t>Directive 게시물 작성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777240"/>
            <a:ext cx="1371600" cy="36576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80467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400" b="1">
                <a:solidFill>
                  <a:srgbClr val="3B82F6"/>
                </a:solidFill>
                <a:latin typeface="Malgun Gothic"/>
              </a:defRPr>
            </a:pPr>
            <a:r>
              <a:t>작성 절차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- 1. Security Bulletins &gt; Security Directive 메뉴 진입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- 2. 'New Directive' 버튼 클릭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- 3. 제목 입력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- 4. 본문 작성 (Rich Text 또는 Markdown 모드)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- 5. 필요시 파일 첨부 (드래그앤드롭 또는 클릭)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- 6. 'Publish Directive' 클릭하여 게시</a:t>
            </a:r>
          </a:p>
          <a:p>
            <a:pPr>
              <a:spcBef>
                <a:spcPts val="4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</a:p>
          <a:p>
            <a:pPr>
              <a:spcBef>
                <a:spcPts val="1200"/>
              </a:spcBef>
              <a:defRPr sz="1400" b="1">
                <a:solidFill>
                  <a:srgbClr val="3B82F6"/>
                </a:solidFill>
                <a:latin typeface="Malgun Gothic"/>
              </a:defRPr>
            </a:pPr>
            <a:r>
              <a:t>에디터 기능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헤더 (H1, H2, H3), 굵게, 기울임, 밑줄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글자색/배경색 변경, 리스트 (번호/불릿)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정렬 (왼쪽/가운데/오른쪽/양쪽)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인용문, 코드 블록, 링크, 이미지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테이블 삽입 (행/열 지정 가능)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.md 파일 업로드 지원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32F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algun Gothic"/>
              </a:defRPr>
            </a:pPr>
            <a:r>
              <a:t>AI 번역 기능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777240"/>
            <a:ext cx="1371600" cy="36576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80467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400" b="1">
                <a:solidFill>
                  <a:srgbClr val="3B82F6"/>
                </a:solidFill>
                <a:latin typeface="Malgun Gothic"/>
              </a:defRPr>
            </a:pPr>
            <a:r>
              <a:t>번역 모델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Google Gemini 2.5 Flash 모델 사용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항공 화물 보안 전문 용어 최적화</a:t>
            </a:r>
          </a:p>
          <a:p>
            <a:pPr>
              <a:spcBef>
                <a:spcPts val="4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</a:p>
          <a:p>
            <a:pPr>
              <a:spcBef>
                <a:spcPts val="1200"/>
              </a:spcBef>
              <a:defRPr sz="1400" b="1">
                <a:solidFill>
                  <a:srgbClr val="3B82F6"/>
                </a:solidFill>
                <a:latin typeface="Malgun Gothic"/>
              </a:defRPr>
            </a:pPr>
            <a:r>
              <a:t>사용 방법 (게시물)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- 1. 언어 선택 드롭다운에서 대상 언어 선택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- 2. 'AI Translate' 버튼 클릭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- 3. 원본과 번역본이 나란히 표시 (Side-by-side / Inline 전환 가능)</a:t>
            </a:r>
          </a:p>
          <a:p>
            <a:pPr>
              <a:spcBef>
                <a:spcPts val="4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</a:p>
          <a:p>
            <a:pPr>
              <a:spcBef>
                <a:spcPts val="1200"/>
              </a:spcBef>
              <a:defRPr sz="1400" b="1">
                <a:solidFill>
                  <a:srgbClr val="3B82F6"/>
                </a:solidFill>
                <a:latin typeface="Malgun Gothic"/>
              </a:defRPr>
            </a:pPr>
            <a:r>
              <a:t>사용 방법 (댓글)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각 댓글 옆 KOR / ENG 버튼으로 즉시 번역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사용자 로컬 타임존 기반 추가 언어 버튼 자동 표시</a:t>
            </a:r>
          </a:p>
          <a:p>
            <a:pPr>
              <a:spcBef>
                <a:spcPts val="4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</a:p>
          <a:p>
            <a:pPr>
              <a:spcBef>
                <a:spcPts val="1200"/>
              </a:spcBef>
              <a:defRPr sz="1400" b="1">
                <a:solidFill>
                  <a:srgbClr val="3B82F6"/>
                </a:solidFill>
                <a:latin typeface="Malgun Gothic"/>
              </a:defRPr>
            </a:pPr>
            <a:r>
              <a:t>주의사항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VITE_GEMINI_API_KEY 환경변수 설정 필요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ICAO, TSA, IATA 등 항공 약어는 번역하지 않음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F4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2286000"/>
            <a:ext cx="1828800" cy="4572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46888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algun Gothic"/>
              </a:defRPr>
            </a:pPr>
            <a:r>
              <a:t>4. Security Communication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B99A8"/>
                </a:solidFill>
                <a:latin typeface="Malgun Gothic"/>
              </a:defRPr>
            </a:pPr>
            <a:r>
              <a:t>보안 커뮤니케이션 (신규)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32F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algun Gothic"/>
              </a:defRPr>
            </a:pPr>
            <a:r>
              <a:t>Security Communication 개요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777240"/>
            <a:ext cx="1371600" cy="36576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80467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400" b="1">
                <a:solidFill>
                  <a:srgbClr val="3B82F6"/>
                </a:solidFill>
                <a:latin typeface="Malgun Gothic"/>
              </a:defRPr>
            </a:pPr>
            <a:r>
              <a:t>게시판 특징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전 사용자 게시 가능 (Admin + Branch User)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보다 자유로운 소통 목적 (질문, 공유, 논의)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Firestore 컬렉션: communicationPosts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파란색 테마로 구분</a:t>
            </a:r>
          </a:p>
          <a:p>
            <a:pPr>
              <a:spcBef>
                <a:spcPts val="4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</a:p>
          <a:p>
            <a:pPr>
              <a:spcBef>
                <a:spcPts val="1200"/>
              </a:spcBef>
              <a:defRPr sz="1400" b="1">
                <a:solidFill>
                  <a:srgbClr val="3B82F6"/>
                </a:solidFill>
                <a:latin typeface="Malgun Gothic"/>
              </a:defRPr>
            </a:pPr>
            <a:r>
              <a:t>Directive와의 차이점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작성 권한: 모든 사용자 (vs Directive: Admin만)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사이트 코드 접두사 표시 (최대 3글자)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HQ Admin 게시물에는 'TA' 접두사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지점 사용자는 IATA 코드 접두사 (예: ICN, LAX)</a:t>
            </a:r>
          </a:p>
          <a:p>
            <a:pPr>
              <a:spcBef>
                <a:spcPts val="4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</a:p>
          <a:p>
            <a:pPr>
              <a:spcBef>
                <a:spcPts val="1200"/>
              </a:spcBef>
              <a:defRPr sz="1400" b="1">
                <a:solidFill>
                  <a:srgbClr val="3B82F6"/>
                </a:solidFill>
                <a:latin typeface="Malgun Gothic"/>
              </a:defRPr>
            </a:pPr>
            <a:r>
              <a:t>동일 기능 지원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Rich Text + Markdown, AI 번역, 파일 첨부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댓글 + 이모지, Acknowledge 추적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드래그앤드롭 파일 업로드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F4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2286000"/>
            <a:ext cx="1828800" cy="4572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46888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algun Gothic"/>
              </a:defRPr>
            </a:pPr>
            <a:r>
              <a:t>5. Document Library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B99A8"/>
                </a:solidFill>
                <a:latin typeface="Malgun Gothic"/>
              </a:defRPr>
            </a:pPr>
            <a:r>
              <a:t>문서 관리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32F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algun Gothic"/>
              </a:defRPr>
            </a:pPr>
            <a:r>
              <a:t>문서 라이브러리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777240"/>
            <a:ext cx="1371600" cy="36576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80467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400" b="1">
                <a:solidFill>
                  <a:srgbClr val="3B82F6"/>
                </a:solidFill>
                <a:latin typeface="Malgun Gothic"/>
              </a:defRPr>
            </a:pPr>
            <a:r>
              <a:t>기능 개요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보안 관련 문서 중앙 저장소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카테고리별 분류 및 IATA 코드 태깅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파일 업로드 (최대 100MB)</a:t>
            </a:r>
          </a:p>
          <a:p>
            <a:pPr>
              <a:spcBef>
                <a:spcPts val="4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</a:p>
          <a:p>
            <a:pPr>
              <a:spcBef>
                <a:spcPts val="1200"/>
              </a:spcBef>
              <a:defRPr sz="1400" b="1">
                <a:solidFill>
                  <a:srgbClr val="3B82F6"/>
                </a:solidFill>
                <a:latin typeface="Malgun Gothic"/>
              </a:defRPr>
            </a:pPr>
            <a:r>
              <a:t>접근 제어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다운로드 권한: 'Admin Only' 또는 'All Branches'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업로더 지점 및 Admin은 항상 접근 가능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잠긴 문서는 회색으로 표시</a:t>
            </a:r>
          </a:p>
          <a:p>
            <a:pPr>
              <a:spcBef>
                <a:spcPts val="4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</a:p>
          <a:p>
            <a:pPr>
              <a:spcBef>
                <a:spcPts val="1200"/>
              </a:spcBef>
              <a:defRPr sz="1400" b="1">
                <a:solidFill>
                  <a:srgbClr val="3B82F6"/>
                </a:solidFill>
                <a:latin typeface="Malgun Gothic"/>
              </a:defRPr>
            </a:pPr>
            <a:r>
              <a:t>다운로드 추적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각 다운로드마다 로그 기록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userId, userEmail, branchName, fileName, 일시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Admin은 지점별 다운로드 현황 확인 가능</a:t>
            </a:r>
          </a:p>
          <a:p>
            <a:pPr>
              <a:spcBef>
                <a:spcPts val="4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</a:p>
          <a:p>
            <a:pPr>
              <a:spcBef>
                <a:spcPts val="1200"/>
              </a:spcBef>
              <a:defRPr sz="1400" b="1">
                <a:solidFill>
                  <a:srgbClr val="3B82F6"/>
                </a:solidFill>
                <a:latin typeface="Malgun Gothic"/>
              </a:defRPr>
            </a:pPr>
            <a:r>
              <a:t>드래그앤드롭 다운로드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파일을 데스크톱으로 끌어서 저장 가능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F4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2286000"/>
            <a:ext cx="1828800" cy="4572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46888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algun Gothic"/>
              </a:defRPr>
            </a:pPr>
            <a:r>
              <a:t>6. Security Level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B99A8"/>
                </a:solidFill>
                <a:latin typeface="Malgun Gothic"/>
              </a:defRPr>
            </a:pPr>
            <a:r>
              <a:t>보안 레벨 관리 / 세계 지도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32F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algun Gothic"/>
              </a:defRPr>
            </a:pPr>
            <a:r>
              <a:t>보안 레벨 관리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777240"/>
            <a:ext cx="1371600" cy="36576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80467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400" b="1">
                <a:solidFill>
                  <a:srgbClr val="3B82F6"/>
                </a:solidFill>
                <a:latin typeface="Malgun Gothic"/>
              </a:defRPr>
            </a:pPr>
            <a:r>
              <a:t>세계 지도 (World Map)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TopoJSON 기반 실제 세계 지도 렌더링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- 85+ IATA 공항 마커 표시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마커 색상: 녹색(Safe), 주황(Caution), 빨강(Alert)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확대/축소 (마우스 휠), 이동 (드래그), 더블클릭 확대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ICN(인천) 중심 지도 배치</a:t>
            </a:r>
          </a:p>
          <a:p>
            <a:pPr>
              <a:spcBef>
                <a:spcPts val="4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</a:p>
          <a:p>
            <a:pPr>
              <a:spcBef>
                <a:spcPts val="1200"/>
              </a:spcBef>
              <a:defRPr sz="1400" b="1">
                <a:solidFill>
                  <a:srgbClr val="3B82F6"/>
                </a:solidFill>
                <a:latin typeface="Malgun Gothic"/>
              </a:defRPr>
            </a:pPr>
            <a:r>
              <a:t>Admin 기능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지도에서 마커 클릭 시 해당 지점 편집 모드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보안 레벨 (Level 1~5) 설정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가이드라인 작성/수정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Effective Since 날짜 설정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변경 이력 자동 기록</a:t>
            </a:r>
          </a:p>
          <a:p>
            <a:pPr>
              <a:spcBef>
                <a:spcPts val="4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</a:p>
          <a:p>
            <a:pPr>
              <a:spcBef>
                <a:spcPts val="1200"/>
              </a:spcBef>
              <a:defRPr sz="1400" b="1">
                <a:solidFill>
                  <a:srgbClr val="3B82F6"/>
                </a:solidFill>
                <a:latin typeface="Malgun Gothic"/>
              </a:defRPr>
            </a:pPr>
            <a:r>
              <a:t>공항 코드 관리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airportCode 필드로 IATA 코드 지정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자동완성 드롭다운 (AIRPORT_COORDS 사전)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F4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2286000"/>
            <a:ext cx="1828800" cy="4572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46888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algun Gothic"/>
              </a:defRPr>
            </a:pPr>
            <a:r>
              <a:t>7. Security Fee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B99A8"/>
                </a:solidFill>
                <a:latin typeface="Malgun Gothic"/>
              </a:defRPr>
            </a:pPr>
            <a:r>
              <a:t>보안 수수료 관리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32F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algun Gothic"/>
              </a:defRPr>
            </a:pPr>
            <a:r>
              <a:t>보안 수수료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777240"/>
            <a:ext cx="1371600" cy="36576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80467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400" b="1">
                <a:solidFill>
                  <a:srgbClr val="3B82F6"/>
                </a:solidFill>
                <a:latin typeface="Malgun Gothic"/>
              </a:defRPr>
            </a:pPr>
            <a:r>
              <a:t>기능 개요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항공 화물 보안 수수료 관리 시스템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Excel 파일 업로드를 통한 일괄 업데이트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환율 자동 변환 (KRW 기준)</a:t>
            </a:r>
          </a:p>
          <a:p>
            <a:pPr>
              <a:spcBef>
                <a:spcPts val="4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</a:p>
          <a:p>
            <a:pPr>
              <a:spcBef>
                <a:spcPts val="1200"/>
              </a:spcBef>
              <a:defRPr sz="1400" b="1">
                <a:solidFill>
                  <a:srgbClr val="3B82F6"/>
                </a:solidFill>
                <a:latin typeface="Malgun Gothic"/>
              </a:defRPr>
            </a:pPr>
            <a:r>
              <a:t>Admin 뷰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전체 지점 수수료 현황 조회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환율 데이터 업로드 및 관리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수수료 변경 이력 추적</a:t>
            </a:r>
          </a:p>
          <a:p>
            <a:pPr>
              <a:spcBef>
                <a:spcPts val="4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</a:p>
          <a:p>
            <a:pPr>
              <a:spcBef>
                <a:spcPts val="1200"/>
              </a:spcBef>
              <a:defRPr sz="1400" b="1">
                <a:solidFill>
                  <a:srgbClr val="3B82F6"/>
                </a:solidFill>
                <a:latin typeface="Malgun Gothic"/>
              </a:defRPr>
            </a:pPr>
            <a:r>
              <a:t>Branch User 뷰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자기 지점 수수료 정보만 조회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현지 통화 및 KRW 환산 금액 표시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32F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algun Gothic"/>
              </a:defRPr>
            </a:pPr>
            <a:r>
              <a:t>Security Policy / Important Links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777240"/>
            <a:ext cx="1371600" cy="36576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80467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400" b="1">
                <a:solidFill>
                  <a:srgbClr val="3B82F6"/>
                </a:solidFill>
                <a:latin typeface="Malgun Gothic"/>
              </a:defRPr>
            </a:pPr>
            <a:r>
              <a:t>Security Policy (보안 정책)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보안 정책 문서 열람 기능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관리자가 업로드한 정책 문서 표시</a:t>
            </a:r>
          </a:p>
          <a:p>
            <a:pPr>
              <a:spcBef>
                <a:spcPts val="4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</a:p>
          <a:p>
            <a:pPr>
              <a:spcBef>
                <a:spcPts val="1200"/>
              </a:spcBef>
              <a:defRPr sz="1400" b="1">
                <a:solidFill>
                  <a:srgbClr val="3B82F6"/>
                </a:solidFill>
                <a:latin typeface="Malgun Gothic"/>
              </a:defRPr>
            </a:pPr>
            <a:r>
              <a:t>Important Links (주요 링크)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QR 코드 포함 링크 그룹 관리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카테고리별 분류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관리자가 링크 추가/수정/삭제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각 링크에 QR 코드 자동 생성 (qrcode.react)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F4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2286000"/>
            <a:ext cx="1828800" cy="4572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46888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algun Gothic"/>
              </a:defRPr>
            </a:pPr>
            <a:r>
              <a:t>10. Settings &amp; Users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B99A8"/>
                </a:solidFill>
                <a:latin typeface="Malgun Gothic"/>
              </a:defRPr>
            </a:pPr>
            <a:r>
              <a:t>설정 및 사용자 관리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32F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algun Gothic"/>
              </a:defRPr>
            </a:pPr>
            <a:r>
              <a:t>사용자 관리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777240"/>
            <a:ext cx="1371600" cy="36576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80467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400" b="1">
                <a:solidFill>
                  <a:srgbClr val="3B82F6"/>
                </a:solidFill>
                <a:latin typeface="Malgun Gothic"/>
              </a:defRPr>
            </a:pPr>
            <a:r>
              <a:t>사용자 목록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전체 등록 사용자 조회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역할(role), 지점(branchName), 이메일 표시</a:t>
            </a:r>
          </a:p>
          <a:p>
            <a:pPr>
              <a:spcBef>
                <a:spcPts val="4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</a:p>
          <a:p>
            <a:pPr>
              <a:spcBef>
                <a:spcPts val="1200"/>
              </a:spcBef>
              <a:defRPr sz="1400" b="1">
                <a:solidFill>
                  <a:srgbClr val="3B82F6"/>
                </a:solidFill>
                <a:latin typeface="Malgun Gothic"/>
              </a:defRPr>
            </a:pPr>
            <a:r>
              <a:t>권한 관리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사용자 역할 변경 (hq_admin / branch_user)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지점 할당/변경</a:t>
            </a:r>
          </a:p>
          <a:p>
            <a:pPr>
              <a:spcBef>
                <a:spcPts val="4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</a:p>
          <a:p>
            <a:pPr>
              <a:spcBef>
                <a:spcPts val="1200"/>
              </a:spcBef>
              <a:defRPr sz="1400" b="1">
                <a:solidFill>
                  <a:srgbClr val="3B82F6"/>
                </a:solidFill>
                <a:latin typeface="Malgun Gothic"/>
              </a:defRPr>
            </a:pPr>
            <a:r>
              <a:t>지점 코드 관리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branchCodes 컬렉션 관리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새 지점 추가, 기존 지점 수정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F4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2286000"/>
            <a:ext cx="1828800" cy="4572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46888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algun Gothic"/>
              </a:defRPr>
            </a:pPr>
            <a:r>
              <a:t>12. 자주 묻는 질문 (FAQ)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32F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algun Gothic"/>
              </a:defRPr>
            </a:pPr>
            <a:r>
              <a:t>FAQ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777240"/>
            <a:ext cx="1371600" cy="36576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80467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400" b="1">
                <a:solidFill>
                  <a:srgbClr val="3B82F6"/>
                </a:solidFill>
                <a:latin typeface="Malgun Gothic"/>
              </a:defRPr>
            </a:pPr>
            <a:r>
              <a:t>Q: 번역이 작동하지 않습니다.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A: .env 파일에 VITE_GEMINI_API_KEY가 설정되어 있는지 확인하세요.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aistudio.google.com/apikey 에서 발급 가능합니다.</a:t>
            </a:r>
          </a:p>
          <a:p>
            <a:pPr>
              <a:spcBef>
                <a:spcPts val="4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</a:p>
          <a:p>
            <a:pPr>
              <a:spcBef>
                <a:spcPts val="1200"/>
              </a:spcBef>
              <a:defRPr sz="1400" b="1">
                <a:solidFill>
                  <a:srgbClr val="3B82F6"/>
                </a:solidFill>
                <a:latin typeface="Malgun Gothic"/>
              </a:defRPr>
            </a:pPr>
            <a:r>
              <a:t>Q: 파일 업로드가 실패합니다.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A: 파일 크기가 Admin 100MB, Branch User 50MB 제한을 확인하세요.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Firebase Storage 설정이 올바른지 확인하세요.</a:t>
            </a:r>
          </a:p>
          <a:p>
            <a:pPr>
              <a:spcBef>
                <a:spcPts val="4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</a:p>
          <a:p>
            <a:pPr>
              <a:spcBef>
                <a:spcPts val="1200"/>
              </a:spcBef>
              <a:defRPr sz="1400" b="1">
                <a:solidFill>
                  <a:srgbClr val="3B82F6"/>
                </a:solidFill>
                <a:latin typeface="Malgun Gothic"/>
              </a:defRPr>
            </a:pPr>
            <a:r>
              <a:t>Q: 지도에서 공항이 보이지 않습니다.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A: Security Level에서 해당 지점의 airportCode가 설정되어 있는지 확인하세요.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AIRPORT_COORDS에 해당 공항이 등록되어 있어야 합니다.</a:t>
            </a:r>
          </a:p>
          <a:p>
            <a:pPr>
              <a:spcBef>
                <a:spcPts val="4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</a:p>
          <a:p>
            <a:pPr>
              <a:spcBef>
                <a:spcPts val="1200"/>
              </a:spcBef>
              <a:defRPr sz="1400" b="1">
                <a:solidFill>
                  <a:srgbClr val="3B82F6"/>
                </a:solidFill>
                <a:latin typeface="Malgun Gothic"/>
              </a:defRPr>
            </a:pPr>
            <a:r>
              <a:t>Q: 사이드바 메뉴가 접히지 않습니다.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A: v1.9 업데이트로 수정되었습니다. 캐시를 삭제하고 새로고침 해주세요.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