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9144000" cy="54864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840480" y="914400"/>
            <a:ext cx="1463040" cy="1097280"/>
          </a:xfrm>
          <a:prstGeom prst="round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0" y="1051560"/>
            <a:ext cx="1463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t>AIRZETA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Malgun Gothic"/>
              </a:defRPr>
            </a:pPr>
            <a:r>
              <a:t>AirZeta Security Portal</a:t>
            </a:r>
            <a:br/>
            <a:r>
              <a:t>Branch User Guide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5661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8B99A8"/>
                </a:solidFill>
                <a:latin typeface="Malgun Gothic"/>
              </a:defRPr>
            </a:pPr>
            <a:r>
              <a:t>Step-by-Step Guide for Station Users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2062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8B99A8"/>
                </a:solidFill>
                <a:latin typeface="Malgun Gothic"/>
              </a:defRPr>
            </a:pPr>
            <a:r>
              <a:t>AirZeta Station Security System | v1.9 | 2026-03-04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32F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algun Gothic"/>
              </a:defRPr>
            </a:pPr>
            <a:r>
              <a:t>1. Login &amp; Navigation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777240"/>
            <a:ext cx="1371600" cy="36576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80467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400" b="1">
                <a:solidFill>
                  <a:srgbClr val="3B82F6"/>
                </a:solidFill>
                <a:latin typeface="Malgun Gothic"/>
              </a:defRPr>
            </a:pPr>
            <a:r>
              <a:t>How to Login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Open your web browser and go to the portal URL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Enter your email address and password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Click 'Login' to access the portal</a:t>
            </a:r>
          </a:p>
          <a:p>
            <a:pPr>
              <a:spcBef>
                <a:spcPts val="4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</a:p>
          <a:p>
            <a:pPr>
              <a:spcBef>
                <a:spcPts val="1200"/>
              </a:spcBef>
              <a:defRPr sz="1400" b="1">
                <a:solidFill>
                  <a:srgbClr val="3B82F6"/>
                </a:solidFill>
                <a:latin typeface="Malgun Gothic"/>
              </a:defRPr>
            </a:pPr>
            <a:r>
              <a:t>Sidebar Navigation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Use the left sidebar to navigate between modules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Click the arrow icon at the bottom to collapse/expand the sidebar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Your station name and role are shown at the bottom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Click 'Logout' when you're done</a:t>
            </a:r>
          </a:p>
          <a:p>
            <a:pPr>
              <a:spcBef>
                <a:spcPts val="4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</a:p>
          <a:p>
            <a:pPr>
              <a:spcBef>
                <a:spcPts val="1200"/>
              </a:spcBef>
              <a:defRPr sz="1400" b="1">
                <a:solidFill>
                  <a:srgbClr val="3B82F6"/>
                </a:solidFill>
                <a:latin typeface="Malgun Gothic"/>
              </a:defRPr>
            </a:pPr>
            <a:r>
              <a:t>Top Header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Shows the current page name and your email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'USER' badge indicates your access level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32F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algun Gothic"/>
              </a:defRPr>
            </a:pPr>
            <a:r>
              <a:t>2. Home Dashboard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777240"/>
            <a:ext cx="1371600" cy="36576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80467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400" b="1">
                <a:solidFill>
                  <a:srgbClr val="3B82F6"/>
                </a:solidFill>
                <a:latin typeface="Malgun Gothic"/>
              </a:defRPr>
            </a:pPr>
            <a:r>
              <a:t>Module Cards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Quick-access cards for each feature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Click any card to go directly to that section</a:t>
            </a:r>
          </a:p>
          <a:p>
            <a:pPr>
              <a:spcBef>
                <a:spcPts val="4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</a:p>
          <a:p>
            <a:pPr>
              <a:spcBef>
                <a:spcPts val="1200"/>
              </a:spcBef>
              <a:defRPr sz="1400" b="1">
                <a:solidFill>
                  <a:srgbClr val="3B82F6"/>
                </a:solidFill>
                <a:latin typeface="Malgun Gothic"/>
              </a:defRPr>
            </a:pPr>
            <a:r>
              <a:t>Recent Bulletins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Latest security directives from HQ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Click to read the full post</a:t>
            </a:r>
          </a:p>
          <a:p>
            <a:pPr>
              <a:spcBef>
                <a:spcPts val="4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</a:p>
          <a:p>
            <a:pPr>
              <a:spcBef>
                <a:spcPts val="1200"/>
              </a:spcBef>
              <a:defRPr sz="1400" b="1">
                <a:solidFill>
                  <a:srgbClr val="3B82F6"/>
                </a:solidFill>
                <a:latin typeface="Malgun Gothic"/>
              </a:defRPr>
            </a:pPr>
            <a:r>
              <a:t>Global Security News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Live news feed about aviation security worldwide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Stay updated on the latest security developments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32F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algun Gothic"/>
              </a:defRPr>
            </a:pPr>
            <a:r>
              <a:t>3. Security Directive (Read &amp; Acknowledge)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777240"/>
            <a:ext cx="1371600" cy="36576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80467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400" b="1">
                <a:solidFill>
                  <a:srgbClr val="3B82F6"/>
                </a:solidFill>
                <a:latin typeface="Malgun Gothic"/>
              </a:defRPr>
            </a:pPr>
            <a:r>
              <a:t>What is Security Directive?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Official security instructions from HQ Admin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All branch users must read and acknowledge</a:t>
            </a:r>
          </a:p>
          <a:p>
            <a:pPr>
              <a:spcBef>
                <a:spcPts val="4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</a:p>
          <a:p>
            <a:pPr>
              <a:spcBef>
                <a:spcPts val="1200"/>
              </a:spcBef>
              <a:defRPr sz="1400" b="1">
                <a:solidFill>
                  <a:srgbClr val="3B82F6"/>
                </a:solidFill>
                <a:latin typeface="Malgun Gothic"/>
              </a:defRPr>
            </a:pPr>
            <a:r>
              <a:t>How to Read and Acknowledge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Go to Security Bulletins &gt; Security Directive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Click a post title to read the full content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Click 'Acknowledge Receipt' button to confirm you've read it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Status changes from 'Pending' (yellow) to 'Acknowledged' (green)</a:t>
            </a:r>
          </a:p>
          <a:p>
            <a:pPr>
              <a:spcBef>
                <a:spcPts val="4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</a:p>
          <a:p>
            <a:pPr>
              <a:spcBef>
                <a:spcPts val="1200"/>
              </a:spcBef>
              <a:defRPr sz="1400" b="1">
                <a:solidFill>
                  <a:srgbClr val="3B82F6"/>
                </a:solidFill>
                <a:latin typeface="Malgun Gothic"/>
              </a:defRPr>
            </a:pPr>
            <a:r>
              <a:t>How to Translate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Select target language from the dropdown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Click 'Translate' to see AI translation side-by-side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Toggle between Side-by-side and Inline views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32F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algun Gothic"/>
              </a:defRPr>
            </a:pPr>
            <a:r>
              <a:t>4. Security Communication (Read &amp; Write)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777240"/>
            <a:ext cx="1371600" cy="36576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80467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400" b="1">
                <a:solidFill>
                  <a:srgbClr val="3B82F6"/>
                </a:solidFill>
                <a:latin typeface="Malgun Gothic"/>
              </a:defRPr>
            </a:pPr>
            <a:r>
              <a:t>What is Security Communication?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Open communication board for all users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Share updates, ask questions, discuss security topics</a:t>
            </a:r>
          </a:p>
          <a:p>
            <a:pPr>
              <a:spcBef>
                <a:spcPts val="4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</a:p>
          <a:p>
            <a:pPr>
              <a:spcBef>
                <a:spcPts val="1200"/>
              </a:spcBef>
              <a:defRPr sz="1400" b="1">
                <a:solidFill>
                  <a:srgbClr val="3B82F6"/>
                </a:solidFill>
                <a:latin typeface="Malgun Gothic"/>
              </a:defRPr>
            </a:pPr>
            <a:r>
              <a:t>How to Create a Post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Go to Security Bulletins &gt; Security Communication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Click 'New Post' button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Enter a title and write your content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Attach files by dragging &amp; dropping or clicking 'Browse'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Click 'Publish Post' to share with all stations</a:t>
            </a:r>
          </a:p>
          <a:p>
            <a:pPr>
              <a:spcBef>
                <a:spcPts val="4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</a:p>
          <a:p>
            <a:pPr>
              <a:spcBef>
                <a:spcPts val="1200"/>
              </a:spcBef>
              <a:defRPr sz="1400" b="1">
                <a:solidFill>
                  <a:srgbClr val="3B82F6"/>
                </a:solidFill>
                <a:latin typeface="Malgun Gothic"/>
              </a:defRPr>
            </a:pPr>
            <a:r>
              <a:t>Comments &amp; Emoji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Leave comments at the bottom of any post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Use the smiley icon to insert emojis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Translate comments using KOR/ENG buttons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32F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algun Gothic"/>
              </a:defRPr>
            </a:pPr>
            <a:r>
              <a:t>5. Document Library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777240"/>
            <a:ext cx="1371600" cy="36576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80467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400" b="1">
                <a:solidFill>
                  <a:srgbClr val="3B82F6"/>
                </a:solidFill>
                <a:latin typeface="Malgun Gothic"/>
              </a:defRPr>
            </a:pPr>
            <a:r>
              <a:t>Browsing Documents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Go to Document Library from the sidebar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Browse by category or search by title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Each document shows IATA code, category, and title</a:t>
            </a:r>
          </a:p>
          <a:p>
            <a:pPr>
              <a:spcBef>
                <a:spcPts val="4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</a:p>
          <a:p>
            <a:pPr>
              <a:spcBef>
                <a:spcPts val="1200"/>
              </a:spcBef>
              <a:defRPr sz="1400" b="1">
                <a:solidFill>
                  <a:srgbClr val="3B82F6"/>
                </a:solidFill>
                <a:latin typeface="Malgun Gothic"/>
              </a:defRPr>
            </a:pPr>
            <a:r>
              <a:t>Downloading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Click a document to view details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Click the download button or drag the file to your desktop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Some documents may be restricted (shown in gray)</a:t>
            </a:r>
          </a:p>
          <a:p>
            <a:pPr>
              <a:spcBef>
                <a:spcPts val="4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</a:p>
          <a:p>
            <a:pPr>
              <a:spcBef>
                <a:spcPts val="1200"/>
              </a:spcBef>
              <a:defRPr sz="1400" b="1">
                <a:solidFill>
                  <a:srgbClr val="3B82F6"/>
                </a:solidFill>
                <a:latin typeface="Malgun Gothic"/>
              </a:defRPr>
            </a:pPr>
            <a:r>
              <a:t>Note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Your download history is tracked for security purposes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32F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algun Gothic"/>
              </a:defRPr>
            </a:pPr>
            <a:r>
              <a:t>6. Security Level (View Only)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777240"/>
            <a:ext cx="1371600" cy="36576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80467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400" b="1">
                <a:solidFill>
                  <a:srgbClr val="3B82F6"/>
                </a:solidFill>
                <a:latin typeface="Malgun Gothic"/>
              </a:defRPr>
            </a:pPr>
            <a:r>
              <a:t>World Map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View the global security level map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Each station is marked with a colored dot:</a:t>
            </a:r>
          </a:p>
          <a:p>
            <a:pPr>
              <a:spcBef>
                <a:spcPts val="4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  - Green = Safe, Orange = Caution, Red = Alert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Scroll to zoom, drag to pan, double-click to zoom in</a:t>
            </a:r>
          </a:p>
          <a:p>
            <a:pPr>
              <a:spcBef>
                <a:spcPts val="4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</a:p>
          <a:p>
            <a:pPr>
              <a:spcBef>
                <a:spcPts val="1200"/>
              </a:spcBef>
              <a:defRPr sz="1400" b="1">
                <a:solidFill>
                  <a:srgbClr val="3B82F6"/>
                </a:solidFill>
                <a:latin typeface="Malgun Gothic"/>
              </a:defRPr>
            </a:pPr>
            <a:r>
              <a:t>Your Station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Click 'Edit My Station' to update your station's security level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Set Level 1 to 5, add guidelines, and set the effective date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Changes are saved with history tracking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32F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algun Gothic"/>
              </a:defRPr>
            </a:pPr>
            <a:r>
              <a:t>7. Other Features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777240"/>
            <a:ext cx="1371600" cy="36576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80467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400" b="1">
                <a:solidFill>
                  <a:srgbClr val="3B82F6"/>
                </a:solidFill>
                <a:latin typeface="Malgun Gothic"/>
              </a:defRPr>
            </a:pPr>
            <a:r>
              <a:t>Security Fee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View your station's security fee information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Displayed in local currency with KRW conversion</a:t>
            </a:r>
          </a:p>
          <a:p>
            <a:pPr>
              <a:spcBef>
                <a:spcPts val="4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</a:p>
          <a:p>
            <a:pPr>
              <a:spcBef>
                <a:spcPts val="1200"/>
              </a:spcBef>
              <a:defRPr sz="1400" b="1">
                <a:solidFill>
                  <a:srgbClr val="3B82F6"/>
                </a:solidFill>
                <a:latin typeface="Malgun Gothic"/>
              </a:defRPr>
            </a:pPr>
            <a:r>
              <a:t>Security Policy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Read the latest security policies from HQ</a:t>
            </a:r>
          </a:p>
          <a:p>
            <a:pPr>
              <a:spcBef>
                <a:spcPts val="4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</a:p>
          <a:p>
            <a:pPr>
              <a:spcBef>
                <a:spcPts val="1200"/>
              </a:spcBef>
              <a:defRPr sz="1400" b="1">
                <a:solidFill>
                  <a:srgbClr val="3B82F6"/>
                </a:solidFill>
                <a:latin typeface="Malgun Gothic"/>
              </a:defRPr>
            </a:pPr>
            <a:r>
              <a:t>Important Links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Quick access to useful resources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Each link includes a QR code for easy mobile access</a:t>
            </a:r>
          </a:p>
          <a:p>
            <a:pPr>
              <a:spcBef>
                <a:spcPts val="4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</a:p>
          <a:p>
            <a:pPr>
              <a:spcBef>
                <a:spcPts val="1200"/>
              </a:spcBef>
              <a:defRPr sz="1400" b="1">
                <a:solidFill>
                  <a:srgbClr val="3B82F6"/>
                </a:solidFill>
                <a:latin typeface="Malgun Gothic"/>
              </a:defRPr>
            </a:pPr>
            <a:r>
              <a:t>Tips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Check the portal daily for new directives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Always acknowledge directives promptly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Use AI translation if you need content in your language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